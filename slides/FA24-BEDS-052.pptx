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100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6E3DD-AF47-4C11-8183-E72C1ACB4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3E0E87-4C1C-4907-93E1-36DE0C2895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07269-3FE8-4998-92FD-945725FBC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B618F-7BC6-4683-9D4F-8FA511DEB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142B7-408A-4958-9FE8-37035D63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847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4E3E2-6E69-45DC-9F44-F4FCE2D2A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06EFD-C9AE-4CC6-A76C-D9181CCCA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9009F-3E00-4DBE-B257-635FA39AE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B6040-6FCB-4CB8-8642-4C13724EF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975F4E-FABB-4C37-9FA7-F98D11643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215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A003D-6D1E-42D8-8DDF-37990308C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7F2E47-D2F6-4503-89C5-598C53CDB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2B00A-2510-411C-8E8B-5387E65B8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ABE2C-9A85-46C5-8897-7ABCFAD52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2A4F7-A725-4B75-94DC-A4AB16CFB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2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75DCE-1A38-49C2-BC14-BA1779BC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8C827-9AF4-4A86-AF22-B275190BE9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378806-F5E4-4683-8834-00B9EF719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611D3B-4F76-4B35-8213-ECF05DD5E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04F4-DAB8-4BF0-A357-3434A2454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785870-ADA1-41D0-BFC6-059392A23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6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0223D-EBBE-4C32-B82D-761FA8125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D4CAC-A097-419C-92DD-F5F6E11C6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438FE-EA86-45BE-BDCB-FD861DDCD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4FC599-FB47-48C4-B379-37F46A40C0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0B1EA-8C95-4006-BA0C-D480F1F92F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7DA973-CF5B-4D1E-8276-C91B46680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E1B746-0E0C-4548-BA93-5B07A9D5B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88C9A6-C836-470E-9C2E-D4A012D64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06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2714F-5E42-48A2-9F6C-22CCA850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288591-280D-4384-9D7B-AE65F91C4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1BBBAE-8E48-402A-B3BE-0BEFA5BE1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A66FD1-E0DE-4656-9DDE-FAF1D281A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529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DE2895-D343-4E96-9BF6-01C7CC965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A30B27-8B05-4D19-9304-4EDECE6CF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9D065-7047-4BF1-B731-8EC3B14E9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19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6ECD3-E07F-4071-8058-EBB814BAB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F9DCE-22BB-4416-AF48-84123361E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C69081-20D6-4E04-863D-AF25BE931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820CBA-90FB-464C-9A22-F6847F943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0766A-1548-4751-9757-69DC1301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0BDA2F-4DDB-4875-9100-60A1587E8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49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0D9E2-BE7E-4E46-828D-1D71B2907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8DC2EF-4BB5-4167-B5E5-EE74550325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3951DC-76B5-427C-9EAD-83979F293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25D97-2250-46F2-B9B7-163A6080E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AE9D74-E8DC-4DCD-BAE5-8273F2C92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D6B0DD-7DE8-4EF7-AD34-36AC7510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33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D33C5-5219-4327-87A1-54930EFAB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340156-D795-4DC4-9CB2-47D2CCA75D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D022B-F861-4C8D-95B6-5672A495E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A531C-A080-4049-9746-6CD37A497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ADA09-4BE2-48AE-AA1D-670A9A319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754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1F3720-BA79-4968-89B7-EE9B061E59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3FFD4-2B34-429D-89A6-3CC371BB4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5A556-1717-4ECA-92FC-0D85A8A4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B636B-D1B0-44CF-82B7-3D1A7F8EB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31867-EEAB-4359-B134-CBE047502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4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E5A5AC-3180-49F8-9F31-CDD540098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F63E3D-B4D5-48BE-9E7D-0888ABE39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A8F65-4B3E-4654-B673-7066527ACB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FDF14-270D-4278-A887-0FE7C53E2537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2CA70-6E01-46A7-B420-176F906AD6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D2CDA-48A2-4D8E-90EC-94A0FC61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A61D63-2B5F-48DC-98FA-4A3658F39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440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5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1B979A-0540-40D2-A365-E0860B0043BD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D55E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1E0A5-465D-4B99-8591-444975296F32}"/>
              </a:ext>
            </a:extLst>
          </p:cNvPr>
          <p:cNvSpPr txBox="1"/>
          <p:nvPr/>
        </p:nvSpPr>
        <p:spPr>
          <a:xfrm>
            <a:off x="889000" y="9525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C6D2DC"/>
                </a:solidFill>
                <a:latin typeface="Segoe UI" panose="020B0502040204020203" pitchFamily="34" charset="0"/>
              </a:rPr>
              <a:t>ECO346  |  DATA VISUALIZATION TECHNIQUES FOR ECONOMISTS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3CF311-3368-43D3-BB0F-C72E9D123ACF}"/>
              </a:ext>
            </a:extLst>
          </p:cNvPr>
          <p:cNvSpPr txBox="1"/>
          <p:nvPr/>
        </p:nvSpPr>
        <p:spPr>
          <a:xfrm>
            <a:off x="889000" y="1714500"/>
            <a:ext cx="10414000" cy="61555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000" b="1">
                <a:solidFill>
                  <a:srgbClr val="FFFFFF"/>
                </a:solidFill>
                <a:latin typeface="Segoe UI" panose="020B0502040204020203" pitchFamily="34" charset="0"/>
              </a:rPr>
              <a:t>Education spending and literacy in KP rural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5933F8-564D-40A8-A325-E69683558C79}"/>
              </a:ext>
            </a:extLst>
          </p:cNvPr>
          <p:cNvSpPr txBox="1"/>
          <p:nvPr/>
        </p:nvSpPr>
        <p:spPr>
          <a:xfrm>
            <a:off x="889000" y="34290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55E00"/>
                </a:solidFill>
                <a:latin typeface="Segoe UI" panose="020B0502040204020203" pitchFamily="34" charset="0"/>
              </a:rPr>
              <a:t>Variant 4  -  Khyber Pakhtunkhwa, rural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EEC9C-F6AE-4258-ABF5-7792CC0AAC77}"/>
              </a:ext>
            </a:extLst>
          </p:cNvPr>
          <p:cNvSpPr txBox="1"/>
          <p:nvPr/>
        </p:nvSpPr>
        <p:spPr>
          <a:xfrm>
            <a:off x="889000" y="4254500"/>
            <a:ext cx="1041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>
                <a:solidFill>
                  <a:srgbClr val="D2DCE4"/>
                </a:solidFill>
                <a:latin typeface="Segoe UI" panose="020B0502040204020203" pitchFamily="34" charset="0"/>
              </a:rPr>
              <a:t>PSLM 2019-20 person and household files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6469CF-13AB-481A-BEC2-0E3B34D0D575}"/>
              </a:ext>
            </a:extLst>
          </p:cNvPr>
          <p:cNvSpPr/>
          <p:nvPr/>
        </p:nvSpPr>
        <p:spPr>
          <a:xfrm>
            <a:off x="889000" y="5143500"/>
            <a:ext cx="1524000" cy="50800"/>
          </a:xfrm>
          <a:prstGeom prst="rect">
            <a:avLst/>
          </a:prstGeom>
          <a:solidFill>
            <a:srgbClr val="D55E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36511C-61A7-434A-BC17-3CF63AEEE3F4}"/>
              </a:ext>
            </a:extLst>
          </p:cNvPr>
          <p:cNvSpPr txBox="1"/>
          <p:nvPr/>
        </p:nvSpPr>
        <p:spPr>
          <a:xfrm>
            <a:off x="889000" y="5461000"/>
            <a:ext cx="1041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D2DCE4"/>
                </a:solidFill>
                <a:latin typeface="Segoe UI" panose="020B0502040204020203" pitchFamily="34" charset="0"/>
              </a:rPr>
              <a:t>FA24-BEDS-052   |   Section B   |   Fall 2026</a:t>
            </a:r>
          </a:p>
        </p:txBody>
      </p:sp>
    </p:spTree>
    <p:extLst>
      <p:ext uri="{BB962C8B-B14F-4D97-AF65-F5344CB8AC3E}">
        <p14:creationId xmlns:p14="http://schemas.microsoft.com/office/powerpoint/2010/main" val="17308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E12F80-18F5-47C1-8097-B06DBF61C8D8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D55E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A3D8AD-2255-495C-952D-9782B3F4F8D9}"/>
              </a:ext>
            </a:extLst>
          </p:cNvPr>
          <p:cNvSpPr txBox="1"/>
          <p:nvPr/>
        </p:nvSpPr>
        <p:spPr>
          <a:xfrm>
            <a:off x="444500" y="317500"/>
            <a:ext cx="11303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4354D"/>
                </a:solidFill>
                <a:latin typeface="Segoe UI" panose="020B0502040204020203" pitchFamily="34" charset="0"/>
              </a:rPr>
              <a:t>Spending is right-skewed: the 90th percentile is ten times the 10th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A0A6DD-4AA4-4285-909C-134A3BC737C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500" y="1168400"/>
            <a:ext cx="7620000" cy="4953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2C4BC9-1427-4181-BB01-42F7C74E0204}"/>
              </a:ext>
            </a:extLst>
          </p:cNvPr>
          <p:cNvSpPr/>
          <p:nvPr/>
        </p:nvSpPr>
        <p:spPr>
          <a:xfrm>
            <a:off x="8255000" y="1333500"/>
            <a:ext cx="38100" cy="4191000"/>
          </a:xfrm>
          <a:prstGeom prst="rect">
            <a:avLst/>
          </a:prstGeom>
          <a:solidFill>
            <a:srgbClr val="D55E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138015-1526-4CBC-B3C3-79A0A496090B}"/>
              </a:ext>
            </a:extLst>
          </p:cNvPr>
          <p:cNvSpPr txBox="1"/>
          <p:nvPr/>
        </p:nvSpPr>
        <p:spPr>
          <a:xfrm>
            <a:off x="8572500" y="1422400"/>
            <a:ext cx="2921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600" b="1">
                <a:solidFill>
                  <a:srgbClr val="0072B2"/>
                </a:solidFill>
                <a:latin typeface="Segoe UI" panose="020B0502040204020203" pitchFamily="34" charset="0"/>
              </a:rPr>
              <a:t>4,912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604B0E-4735-4DD9-A38E-B4268EDF5EFE}"/>
              </a:ext>
            </a:extLst>
          </p:cNvPr>
          <p:cNvSpPr txBox="1"/>
          <p:nvPr/>
        </p:nvSpPr>
        <p:spPr>
          <a:xfrm>
            <a:off x="8572500" y="20828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5A5A5A"/>
                </a:solidFill>
                <a:latin typeface="Segoe UI" panose="020B0502040204020203" pitchFamily="34" charset="0"/>
              </a:rPr>
              <a:t>students with education spending &gt;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3F4943-040A-4F3A-B204-111CB03AF75A}"/>
              </a:ext>
            </a:extLst>
          </p:cNvPr>
          <p:cNvSpPr txBox="1"/>
          <p:nvPr/>
        </p:nvSpPr>
        <p:spPr>
          <a:xfrm>
            <a:off x="8572500" y="2730500"/>
            <a:ext cx="2921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14354D"/>
                </a:solidFill>
                <a:latin typeface="Segoe UI" panose="020B0502040204020203" pitchFamily="34" charset="0"/>
              </a:rPr>
              <a:t>Rs 7,000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4E8F52-E607-4155-A08C-A15514DD739D}"/>
              </a:ext>
            </a:extLst>
          </p:cNvPr>
          <p:cNvSpPr txBox="1"/>
          <p:nvPr/>
        </p:nvSpPr>
        <p:spPr>
          <a:xfrm>
            <a:off x="8572500" y="32893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5A5A5A"/>
                </a:solidFill>
                <a:latin typeface="Segoe UI" panose="020B0502040204020203" pitchFamily="34" charset="0"/>
              </a:rPr>
              <a:t>weighted and unweighted median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9EF954-90DD-4E40-8625-D20E4A489538}"/>
              </a:ext>
            </a:extLst>
          </p:cNvPr>
          <p:cNvSpPr txBox="1"/>
          <p:nvPr/>
        </p:nvSpPr>
        <p:spPr>
          <a:xfrm>
            <a:off x="8572500" y="38735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D55E00"/>
                </a:solidFill>
                <a:latin typeface="Segoe UI" panose="020B0502040204020203" pitchFamily="34" charset="0"/>
              </a:rPr>
              <a:t>Rs 2,500  -&gt;  Rs 25,000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AD1974-986F-4982-983B-A16F408967A3}"/>
              </a:ext>
            </a:extLst>
          </p:cNvPr>
          <p:cNvSpPr txBox="1"/>
          <p:nvPr/>
        </p:nvSpPr>
        <p:spPr>
          <a:xfrm>
            <a:off x="8572500" y="43434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5A5A5A"/>
                </a:solidFill>
                <a:latin typeface="Segoe UI" panose="020B0502040204020203" pitchFamily="34" charset="0"/>
              </a:rPr>
              <a:t>weighted 10th to 90th percentile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406912-C499-404D-903F-A96774698459}"/>
              </a:ext>
            </a:extLst>
          </p:cNvPr>
          <p:cNvSpPr txBox="1"/>
          <p:nvPr/>
        </p:nvSpPr>
        <p:spPr>
          <a:xfrm>
            <a:off x="8572500" y="4851400"/>
            <a:ext cx="2921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14354D"/>
                </a:solidFill>
                <a:latin typeface="Segoe UI" panose="020B0502040204020203" pitchFamily="34" charset="0"/>
              </a:rPr>
              <a:t>10.00x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F93F49-8D89-492C-9DCB-BA879CE44914}"/>
              </a:ext>
            </a:extLst>
          </p:cNvPr>
          <p:cNvSpPr txBox="1"/>
          <p:nvPr/>
        </p:nvSpPr>
        <p:spPr>
          <a:xfrm>
            <a:off x="8572500" y="53594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5A5A5A"/>
                </a:solidFill>
                <a:latin typeface="Segoe UI" panose="020B0502040204020203" pitchFamily="34" charset="0"/>
              </a:rPr>
              <a:t>p90 / p10 ratio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6244F4-F738-41BB-A9D6-AD02C01B0B17}"/>
              </a:ext>
            </a:extLst>
          </p:cNvPr>
          <p:cNvSpPr txBox="1"/>
          <p:nvPr/>
        </p:nvSpPr>
        <p:spPr>
          <a:xfrm>
            <a:off x="8572500" y="5867400"/>
            <a:ext cx="330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A5A5A"/>
                </a:solidFill>
                <a:latin typeface="Segoe UI" panose="020B0502040204020203" pitchFamily="34" charset="0"/>
              </a:rPr>
              <a:t>3 students excluded outside Rs 100 - Rs 1,000,000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7634C2-6CB4-45FF-B8CB-B7CB835ECA66}"/>
              </a:ext>
            </a:extLst>
          </p:cNvPr>
          <p:cNvSpPr txBox="1"/>
          <p:nvPr/>
        </p:nvSpPr>
        <p:spPr>
          <a:xfrm>
            <a:off x="317500" y="6350000"/>
            <a:ext cx="1143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>
                <a:solidFill>
                  <a:srgbClr val="5A5A5A"/>
                </a:solidFill>
                <a:latin typeface="Segoe UI" panose="020B0502040204020203" pitchFamily="34" charset="0"/>
              </a:rPr>
              <a:t>Source: PSLM 2019-20; KP rural students; weighted by hhweight.</a:t>
            </a:r>
          </a:p>
        </p:txBody>
      </p:sp>
    </p:spTree>
    <p:extLst>
      <p:ext uri="{BB962C8B-B14F-4D97-AF65-F5344CB8AC3E}">
        <p14:creationId xmlns:p14="http://schemas.microsoft.com/office/powerpoint/2010/main" val="2254073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CB8DF7-46B1-4AC5-A75D-78C3F3D2BDC1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D55E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EAF6B1-3E13-41D2-B51A-64BE1395C575}"/>
              </a:ext>
            </a:extLst>
          </p:cNvPr>
          <p:cNvSpPr txBox="1"/>
          <p:nvPr/>
        </p:nvSpPr>
        <p:spPr>
          <a:xfrm>
            <a:off x="444500" y="317500"/>
            <a:ext cx="11303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4354D"/>
                </a:solidFill>
                <a:latin typeface="Segoe UI" panose="020B0502040204020203" pitchFamily="34" charset="0"/>
              </a:rPr>
              <a:t>Makeover: from 13,200 points to weighted conditional means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CE8B6-AE79-4823-A283-A9D6AF3398A2}"/>
              </a:ext>
            </a:extLst>
          </p:cNvPr>
          <p:cNvSpPr txBox="1"/>
          <p:nvPr/>
        </p:nvSpPr>
        <p:spPr>
          <a:xfrm>
            <a:off x="444500" y="1041400"/>
            <a:ext cx="533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D55E00"/>
                </a:solidFill>
                <a:latin typeface="Segoe UI" panose="020B0502040204020203" pitchFamily="34" charset="0"/>
              </a:rPr>
              <a:t>DEFAULT (Q4)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FE008-6C36-4986-8F96-7CC90605D51D}"/>
              </a:ext>
            </a:extLst>
          </p:cNvPr>
          <p:cNvSpPr txBox="1"/>
          <p:nvPr/>
        </p:nvSpPr>
        <p:spPr>
          <a:xfrm>
            <a:off x="444500" y="1346200"/>
            <a:ext cx="533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A5A5A"/>
                </a:solidFill>
                <a:latin typeface="Segoe UI" panose="020B0502040204020203" pitchFamily="34" charset="0"/>
              </a:rPr>
              <a:t>One point per person; no visible age pattern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93B30E-055F-4C6C-85E1-7FB8670BF9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4500" y="1714500"/>
            <a:ext cx="5334000" cy="381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B0275F-2547-487F-9D1A-0D1B49F07BE5}"/>
              </a:ext>
            </a:extLst>
          </p:cNvPr>
          <p:cNvSpPr txBox="1"/>
          <p:nvPr/>
        </p:nvSpPr>
        <p:spPr>
          <a:xfrm>
            <a:off x="6413500" y="1041400"/>
            <a:ext cx="533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0072B2"/>
                </a:solidFill>
                <a:latin typeface="Segoe UI" panose="020B0502040204020203" pitchFamily="34" charset="0"/>
              </a:rPr>
              <a:t>REDESIGN (Q3)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04BE75-A47D-44E4-B3CE-310E461695B0}"/>
              </a:ext>
            </a:extLst>
          </p:cNvPr>
          <p:cNvSpPr txBox="1"/>
          <p:nvPr/>
        </p:nvSpPr>
        <p:spPr>
          <a:xfrm>
            <a:off x="6413500" y="1346200"/>
            <a:ext cx="533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A5A5A"/>
                </a:solidFill>
                <a:latin typeface="Segoe UI" panose="020B0502040204020203" pitchFamily="34" charset="0"/>
              </a:rPr>
              <a:t>Weighted literacy rate by age band and sex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07AAAB4-BE9C-4CAE-A9D7-F139531B601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13500" y="1714500"/>
            <a:ext cx="5334000" cy="3467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1B74CB1-E02A-4D93-93DB-67FE2FD958E2}"/>
              </a:ext>
            </a:extLst>
          </p:cNvPr>
          <p:cNvSpPr txBox="1"/>
          <p:nvPr/>
        </p:nvSpPr>
        <p:spPr>
          <a:xfrm>
            <a:off x="444500" y="5905500"/>
            <a:ext cx="1130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14354D"/>
                </a:solidFill>
                <a:latin typeface="Segoe UI" panose="020B0502040204020203" pitchFamily="34" charset="0"/>
              </a:rPr>
              <a:t>Overplotting removed  |  sex mapped to colour  |  direct labels  |  y-axis fixed at 0-100%  |  thin cells hollow</a:t>
            </a:r>
          </a:p>
        </p:txBody>
      </p:sp>
    </p:spTree>
    <p:extLst>
      <p:ext uri="{BB962C8B-B14F-4D97-AF65-F5344CB8AC3E}">
        <p14:creationId xmlns:p14="http://schemas.microsoft.com/office/powerpoint/2010/main" val="4271687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46048E-AA90-4FC9-A1CD-9D19CFD14F67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D55E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A5B26-AFAE-41D7-9AB4-F58EF66B56A7}"/>
              </a:ext>
            </a:extLst>
          </p:cNvPr>
          <p:cNvSpPr txBox="1"/>
          <p:nvPr/>
        </p:nvSpPr>
        <p:spPr>
          <a:xfrm>
            <a:off x="444500" y="317500"/>
            <a:ext cx="11303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4354D"/>
                </a:solidFill>
                <a:latin typeface="Segoe UI" panose="020B0502040204020203" pitchFamily="34" charset="0"/>
              </a:rPr>
              <a:t>Key finding: a 46.6-point literacy gap at ages 45-49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4C9F2-B05F-4BAA-90D5-F584452D58C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500" y="1168400"/>
            <a:ext cx="7620000" cy="4953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ABE4C1-5F34-4B12-9828-3D0F060E3A30}"/>
              </a:ext>
            </a:extLst>
          </p:cNvPr>
          <p:cNvSpPr/>
          <p:nvPr/>
        </p:nvSpPr>
        <p:spPr>
          <a:xfrm>
            <a:off x="8255000" y="1333500"/>
            <a:ext cx="38100" cy="4191000"/>
          </a:xfrm>
          <a:prstGeom prst="rect">
            <a:avLst/>
          </a:prstGeom>
          <a:solidFill>
            <a:srgbClr val="0072B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28F1FA-E473-4BB5-9E21-DD8C89F5598D}"/>
              </a:ext>
            </a:extLst>
          </p:cNvPr>
          <p:cNvSpPr txBox="1"/>
          <p:nvPr/>
        </p:nvSpPr>
        <p:spPr>
          <a:xfrm>
            <a:off x="8572500" y="1422400"/>
            <a:ext cx="1270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D55E00"/>
                </a:solidFill>
                <a:latin typeface="Segoe UI" panose="020B0502040204020203" pitchFamily="34" charset="0"/>
              </a:rPr>
              <a:t>WOMEN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8B92B8-A3A6-4329-8629-8C42C281D1C3}"/>
              </a:ext>
            </a:extLst>
          </p:cNvPr>
          <p:cNvSpPr txBox="1"/>
          <p:nvPr/>
        </p:nvSpPr>
        <p:spPr>
          <a:xfrm>
            <a:off x="8572500" y="1778000"/>
            <a:ext cx="317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4354D"/>
                </a:solidFill>
                <a:latin typeface="Segoe UI" panose="020B0502040204020203" pitchFamily="34" charset="0"/>
              </a:rPr>
              <a:t>15-19: 52.6%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943CBB-EA4A-4D7A-B0B9-E4EF0283B62B}"/>
              </a:ext>
            </a:extLst>
          </p:cNvPr>
          <p:cNvSpPr txBox="1"/>
          <p:nvPr/>
        </p:nvSpPr>
        <p:spPr>
          <a:xfrm>
            <a:off x="8572500" y="2222500"/>
            <a:ext cx="317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4354D"/>
                </a:solidFill>
                <a:latin typeface="Segoe UI" panose="020B0502040204020203" pitchFamily="34" charset="0"/>
              </a:rPr>
              <a:t>55-59: 2.9%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3DB611-79DF-494C-BDBD-BF1F87CAD4B6}"/>
              </a:ext>
            </a:extLst>
          </p:cNvPr>
          <p:cNvSpPr txBox="1"/>
          <p:nvPr/>
        </p:nvSpPr>
        <p:spPr>
          <a:xfrm>
            <a:off x="8572500" y="2857500"/>
            <a:ext cx="1270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0072B2"/>
                </a:solidFill>
                <a:latin typeface="Segoe UI" panose="020B0502040204020203" pitchFamily="34" charset="0"/>
              </a:rPr>
              <a:t>MEN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89D763-A23A-4553-86D0-6A19014772D1}"/>
              </a:ext>
            </a:extLst>
          </p:cNvPr>
          <p:cNvSpPr txBox="1"/>
          <p:nvPr/>
        </p:nvSpPr>
        <p:spPr>
          <a:xfrm>
            <a:off x="8572500" y="3213100"/>
            <a:ext cx="317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4354D"/>
                </a:solidFill>
                <a:latin typeface="Segoe UI" panose="020B0502040204020203" pitchFamily="34" charset="0"/>
              </a:rPr>
              <a:t>15-19: 85.1%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018C3D-B48A-4606-BB38-A819BFF1DE60}"/>
              </a:ext>
            </a:extLst>
          </p:cNvPr>
          <p:cNvSpPr txBox="1"/>
          <p:nvPr/>
        </p:nvSpPr>
        <p:spPr>
          <a:xfrm>
            <a:off x="8572500" y="3657600"/>
            <a:ext cx="317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4354D"/>
                </a:solidFill>
                <a:latin typeface="Segoe UI" panose="020B0502040204020203" pitchFamily="34" charset="0"/>
              </a:rPr>
              <a:t>55-59: 43.0%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8BDF7F-4C45-43F3-A3AB-9DD4BEE3800D}"/>
              </a:ext>
            </a:extLst>
          </p:cNvPr>
          <p:cNvSpPr txBox="1"/>
          <p:nvPr/>
        </p:nvSpPr>
        <p:spPr>
          <a:xfrm>
            <a:off x="8572500" y="4318000"/>
            <a:ext cx="3175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5A5A5A"/>
                </a:solidFill>
                <a:latin typeface="Segoe UI" panose="020B0502040204020203" pitchFamily="34" charset="0"/>
              </a:rPr>
              <a:t>Largest gap at 45-49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8BB4EA-43EE-4511-A903-A8391307550F}"/>
              </a:ext>
            </a:extLst>
          </p:cNvPr>
          <p:cNvSpPr txBox="1"/>
          <p:nvPr/>
        </p:nvSpPr>
        <p:spPr>
          <a:xfrm>
            <a:off x="8572500" y="4660900"/>
            <a:ext cx="3175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100" b="1">
                <a:solidFill>
                  <a:srgbClr val="D55E00"/>
                </a:solidFill>
                <a:latin typeface="Segoe UI" panose="020B0502040204020203" pitchFamily="34" charset="0"/>
              </a:rPr>
              <a:t>10.5% vs 57.0%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1CB4D7-2F8D-46E8-8209-51CFC833762D}"/>
              </a:ext>
            </a:extLst>
          </p:cNvPr>
          <p:cNvSpPr txBox="1"/>
          <p:nvPr/>
        </p:nvSpPr>
        <p:spPr>
          <a:xfrm>
            <a:off x="8572500" y="5334000"/>
            <a:ext cx="32385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A5A5A"/>
                </a:solidFill>
                <a:latin typeface="Segoe UI" panose="020B0502040204020203" pitchFamily="34" charset="0"/>
              </a:rPr>
              <a:t>Caveat: a cross-section cannot show when literacy was acquired, or whether schooling caused it.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49000A-DC47-4EE7-A6DE-83BA3A0EEBA8}"/>
              </a:ext>
            </a:extLst>
          </p:cNvPr>
          <p:cNvSpPr txBox="1"/>
          <p:nvPr/>
        </p:nvSpPr>
        <p:spPr>
          <a:xfrm>
            <a:off x="317500" y="6350000"/>
            <a:ext cx="1143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>
                <a:solidFill>
                  <a:srgbClr val="5A5A5A"/>
                </a:solidFill>
                <a:latin typeface="Segoe UI" panose="020B0502040204020203" pitchFamily="34" charset="0"/>
              </a:rPr>
              <a:t>Source: PSLM 2019-20; persons aged 10-64; weighted by hhweight.</a:t>
            </a:r>
          </a:p>
        </p:txBody>
      </p:sp>
    </p:spTree>
    <p:extLst>
      <p:ext uri="{BB962C8B-B14F-4D97-AF65-F5344CB8AC3E}">
        <p14:creationId xmlns:p14="http://schemas.microsoft.com/office/powerpoint/2010/main" val="1274064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</Words>
  <Application>Microsoft Office PowerPoint</Application>
  <PresentationFormat>Custom</PresentationFormat>
  <Paragraphs>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</cp:revision>
  <dcterms:created xsi:type="dcterms:W3CDTF">2026-10-25T08:15:26Z</dcterms:created>
  <dcterms:modified xsi:type="dcterms:W3CDTF">2026-10-25T08:15:28Z</dcterms:modified>
</cp:coreProperties>
</file>