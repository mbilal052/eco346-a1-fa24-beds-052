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10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9F35-4946-4D96-A3D5-A99D8D724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D896A-91DA-4255-8CB7-7D6E44FF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6F87F-8A03-4E36-A47B-920B12AE3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219F5-ABD2-4E62-9274-508FEE50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EA0D4-0BEE-4486-BA0A-407F99E8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81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5220-E615-44EA-912D-71526B0C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6D795-0387-4779-80CB-C6D40D849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D726C-3F92-4B73-BCDA-D17063A3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E23DC-7C22-4442-AF86-E175797D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BAB9B-D1CF-4F4F-AD1F-31FE0F21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5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79225-92CF-4B84-9DF2-9C670F03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BCFA5-BAE6-4B25-A30E-C0ACA83DE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3EEE-57D5-433A-8F6B-2B4EADDD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19206-F383-4A3C-B2F4-1C739DE26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8AF0E-1DD3-4180-8F19-C1078281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4AC16-72F7-4C21-8F9B-387A8112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8890-00EB-422D-8A8F-F9212DA3A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2ED4A-5C41-4E2C-81A9-11B439133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43E56-720F-4DA6-8A16-35AF19031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76FE5-0735-4C62-B780-6BF545D26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69147-2899-4689-9260-CDA8308E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0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0F565-C028-498C-99BF-B40D3573A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7776E-56FF-4FB7-AC48-7A38AAB54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5F406-3400-4369-A039-6ED6025EA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85CC-2122-4DC2-B886-B2BC0FB6C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3C938-C91D-4B1F-8E2D-8058925DA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6FFF6F-0BF2-4C32-B4F5-84E18658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C0575-BEA8-47A1-A3C8-693A6461E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56CCE-A145-4A4C-BE9C-04CE228B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3083-C7B8-4EAA-BFF4-4BD71F7C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47725-2E74-459E-ABAE-595B0B002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0240D-6BD4-4510-9F24-851423D8F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7D603-8B76-4927-8147-8C29E968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8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8157C-048A-4AD7-8FBF-D8984EF8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E0BEB-1850-4DE0-A1AA-CCF2A0B6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19042-0F47-4759-AA55-884A7B172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06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3DA15-67D9-4CCA-9776-0395155CD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74A8A-91F3-41B6-A71E-5ED785551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2A013-6BA6-4524-8EB4-9DEAF3266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180BE-B183-4D3F-A159-F9329B09D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03A89-8C2B-49C8-8BF4-EAC3FFB3A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CBC18-266D-400E-8A51-EDE1FA7F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BA1F-61E4-4DE8-AFD1-8B62B9A2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706352-8B26-4C3F-8FC1-D18D9DAD3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3323A-E20F-4DA7-B3A3-283C845C2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0E4E7-2BCB-4969-987A-C293930E4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846A4-ACDC-43A2-B16A-B3AB24AC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21BC5-7888-47AC-A459-7E2E91EA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2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CB5C-39FC-4F7F-9FCB-D68E67E2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9440F-424D-48CC-9C69-1433CC92D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9A672-EB6B-4BAD-95B1-66F31723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E2A6F-D48A-4551-B933-BAEB495E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65C1D-B43D-4066-B154-5C99C56E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6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DF6AD-35E6-419F-BF16-DF33E3BD0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DEEF7-7781-4054-8416-C236FECB2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C9275-67C7-47D6-B60B-6F1F54D0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D053E-D96F-455E-9614-AD204B02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01BAF-A594-40E4-89C2-938EAB9E9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1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8FF136-1418-4D01-ADB2-F89DF3FE0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EDC11-DEAB-4254-9ADD-A81B4087C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80AAF-95DA-475D-947B-28CDB01D3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75CE9-0D53-4C49-BA8E-D50EFDE4F0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E7236-6148-42E8-BBBE-4EA23489A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E98C8-6667-42D6-B2E7-1A45BC009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ADD06-3029-494A-BD87-B23A2BA05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7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710E86-E695-4A4B-A795-8A16245FA52D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55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6332A-8F85-4896-94B4-38F643D9316E}"/>
              </a:ext>
            </a:extLst>
          </p:cNvPr>
          <p:cNvSpPr txBox="1"/>
          <p:nvPr/>
        </p:nvSpPr>
        <p:spPr>
          <a:xfrm>
            <a:off x="889000" y="9525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C6D2DC"/>
                </a:solidFill>
                <a:latin typeface="Segoe UI" panose="020B0502040204020203" pitchFamily="34" charset="0"/>
              </a:rPr>
              <a:t>ECO346  |  DATA VISUALIZATION TECHNIQUES FOR ECONOMISTS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06AF6D-F597-4E41-9963-A57B0F7B3703}"/>
              </a:ext>
            </a:extLst>
          </p:cNvPr>
          <p:cNvSpPr txBox="1"/>
          <p:nvPr/>
        </p:nvSpPr>
        <p:spPr>
          <a:xfrm>
            <a:off x="889000" y="1714500"/>
            <a:ext cx="10414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Segoe UI" panose="020B0502040204020203" pitchFamily="34" charset="0"/>
              </a:rPr>
              <a:t>Education spending and literacy in KP rural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ABF98D-16CF-44B9-BC98-9134195606EF}"/>
              </a:ext>
            </a:extLst>
          </p:cNvPr>
          <p:cNvSpPr txBox="1"/>
          <p:nvPr/>
        </p:nvSpPr>
        <p:spPr>
          <a:xfrm>
            <a:off x="889000" y="3429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55E00"/>
                </a:solidFill>
                <a:latin typeface="Segoe UI" panose="020B0502040204020203" pitchFamily="34" charset="0"/>
              </a:rPr>
              <a:t>Variant 4  -  Khyber Pakhtunkhwa, rural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711BD-948E-4B49-803A-E158403323C9}"/>
              </a:ext>
            </a:extLst>
          </p:cNvPr>
          <p:cNvSpPr txBox="1"/>
          <p:nvPr/>
        </p:nvSpPr>
        <p:spPr>
          <a:xfrm>
            <a:off x="889000" y="42545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D2DCE4"/>
                </a:solidFill>
                <a:latin typeface="Segoe UI" panose="020B0502040204020203" pitchFamily="34" charset="0"/>
              </a:rPr>
              <a:t>PSLM 2019-20 person and household files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9096C2-9C8E-4C47-8C46-4ECD0529EE55}"/>
              </a:ext>
            </a:extLst>
          </p:cNvPr>
          <p:cNvSpPr/>
          <p:nvPr/>
        </p:nvSpPr>
        <p:spPr>
          <a:xfrm>
            <a:off x="889000" y="5143500"/>
            <a:ext cx="1524000" cy="50800"/>
          </a:xfrm>
          <a:prstGeom prst="rect">
            <a:avLst/>
          </a:prstGeom>
          <a:solidFill>
            <a:srgbClr val="D55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D1548-EBD7-4176-B78A-292F4BD5270B}"/>
              </a:ext>
            </a:extLst>
          </p:cNvPr>
          <p:cNvSpPr txBox="1"/>
          <p:nvPr/>
        </p:nvSpPr>
        <p:spPr>
          <a:xfrm>
            <a:off x="889000" y="5461000"/>
            <a:ext cx="1041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D2DCE4"/>
                </a:solidFill>
                <a:latin typeface="Segoe UI" panose="020B0502040204020203" pitchFamily="34" charset="0"/>
              </a:rPr>
              <a:t>FA24-BEDS-052   |   Section B   |   Fall 2026</a:t>
            </a:r>
          </a:p>
        </p:txBody>
      </p:sp>
    </p:spTree>
    <p:extLst>
      <p:ext uri="{BB962C8B-B14F-4D97-AF65-F5344CB8AC3E}">
        <p14:creationId xmlns:p14="http://schemas.microsoft.com/office/powerpoint/2010/main" val="112208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9A858E-93ED-45D2-83FF-F0988B1B88D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55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DB5C4-5A54-43A9-B61A-A67289532207}"/>
              </a:ext>
            </a:extLst>
          </p:cNvPr>
          <p:cNvSpPr txBox="1"/>
          <p:nvPr/>
        </p:nvSpPr>
        <p:spPr>
          <a:xfrm>
            <a:off x="444500" y="317500"/>
            <a:ext cx="11303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4354D"/>
                </a:solidFill>
                <a:latin typeface="Segoe UI" panose="020B0502040204020203" pitchFamily="34" charset="0"/>
              </a:rPr>
              <a:t>Spending is right-skewed: the 90th percentile is ten times the 10th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134595-5C32-4525-A059-DCEDDFC352F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00" y="1168400"/>
            <a:ext cx="7620000" cy="4953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9CECDC-CC5D-471E-954A-A2171363D4E8}"/>
              </a:ext>
            </a:extLst>
          </p:cNvPr>
          <p:cNvSpPr/>
          <p:nvPr/>
        </p:nvSpPr>
        <p:spPr>
          <a:xfrm>
            <a:off x="8255000" y="1333500"/>
            <a:ext cx="38100" cy="4191000"/>
          </a:xfrm>
          <a:prstGeom prst="rect">
            <a:avLst/>
          </a:prstGeom>
          <a:solidFill>
            <a:srgbClr val="D55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0A616-0D16-4BE7-A9D9-F04B5F37065B}"/>
              </a:ext>
            </a:extLst>
          </p:cNvPr>
          <p:cNvSpPr txBox="1"/>
          <p:nvPr/>
        </p:nvSpPr>
        <p:spPr>
          <a:xfrm>
            <a:off x="8572500" y="1422400"/>
            <a:ext cx="2921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72B2"/>
                </a:solidFill>
                <a:latin typeface="Segoe UI" panose="020B0502040204020203" pitchFamily="34" charset="0"/>
              </a:rPr>
              <a:t>4,912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7FA80-8D1F-40DD-9FB6-4BF8019B5C84}"/>
              </a:ext>
            </a:extLst>
          </p:cNvPr>
          <p:cNvSpPr txBox="1"/>
          <p:nvPr/>
        </p:nvSpPr>
        <p:spPr>
          <a:xfrm>
            <a:off x="8572500" y="20828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A5A5A"/>
                </a:solidFill>
                <a:latin typeface="Segoe UI" panose="020B0502040204020203" pitchFamily="34" charset="0"/>
              </a:rPr>
              <a:t>students with education spending &gt;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F6F02-F768-4F4A-ADD6-2F851EC02E83}"/>
              </a:ext>
            </a:extLst>
          </p:cNvPr>
          <p:cNvSpPr txBox="1"/>
          <p:nvPr/>
        </p:nvSpPr>
        <p:spPr>
          <a:xfrm>
            <a:off x="8572500" y="2730500"/>
            <a:ext cx="2921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4354D"/>
                </a:solidFill>
                <a:latin typeface="Segoe UI" panose="020B0502040204020203" pitchFamily="34" charset="0"/>
              </a:rPr>
              <a:t>Rs 7,000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BDBA7D-3136-4B63-9A56-B32E15EB3E89}"/>
              </a:ext>
            </a:extLst>
          </p:cNvPr>
          <p:cNvSpPr txBox="1"/>
          <p:nvPr/>
        </p:nvSpPr>
        <p:spPr>
          <a:xfrm>
            <a:off x="8572500" y="32893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A5A5A"/>
                </a:solidFill>
                <a:latin typeface="Segoe UI" panose="020B0502040204020203" pitchFamily="34" charset="0"/>
              </a:rPr>
              <a:t>weighted and unweighted median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F972BB-A8E4-4FA3-B733-A360A5FAA2DE}"/>
              </a:ext>
            </a:extLst>
          </p:cNvPr>
          <p:cNvSpPr txBox="1"/>
          <p:nvPr/>
        </p:nvSpPr>
        <p:spPr>
          <a:xfrm>
            <a:off x="8572500" y="38735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D55E00"/>
                </a:solidFill>
                <a:latin typeface="Segoe UI" panose="020B0502040204020203" pitchFamily="34" charset="0"/>
              </a:rPr>
              <a:t>Rs 2,500  -&gt;  Rs 25,000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4F511-E87D-42A1-BF46-386CE719B265}"/>
              </a:ext>
            </a:extLst>
          </p:cNvPr>
          <p:cNvSpPr txBox="1"/>
          <p:nvPr/>
        </p:nvSpPr>
        <p:spPr>
          <a:xfrm>
            <a:off x="8572500" y="43434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A5A5A"/>
                </a:solidFill>
                <a:latin typeface="Segoe UI" panose="020B0502040204020203" pitchFamily="34" charset="0"/>
              </a:rPr>
              <a:t>weighted 10th to 90th percentile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E042B-4088-45A7-93EC-03A671A31043}"/>
              </a:ext>
            </a:extLst>
          </p:cNvPr>
          <p:cNvSpPr txBox="1"/>
          <p:nvPr/>
        </p:nvSpPr>
        <p:spPr>
          <a:xfrm>
            <a:off x="8572500" y="4851400"/>
            <a:ext cx="292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4354D"/>
                </a:solidFill>
                <a:latin typeface="Segoe UI" panose="020B0502040204020203" pitchFamily="34" charset="0"/>
              </a:rPr>
              <a:t>10.00x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F5AE33-2A8A-41AF-81F2-8206FA273764}"/>
              </a:ext>
            </a:extLst>
          </p:cNvPr>
          <p:cNvSpPr txBox="1"/>
          <p:nvPr/>
        </p:nvSpPr>
        <p:spPr>
          <a:xfrm>
            <a:off x="8572500" y="53594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A5A5A"/>
                </a:solidFill>
                <a:latin typeface="Segoe UI" panose="020B0502040204020203" pitchFamily="34" charset="0"/>
              </a:rPr>
              <a:t>p90 / p10 ratio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795FF5-725B-4F26-B83C-1F67EDD10EAD}"/>
              </a:ext>
            </a:extLst>
          </p:cNvPr>
          <p:cNvSpPr txBox="1"/>
          <p:nvPr/>
        </p:nvSpPr>
        <p:spPr>
          <a:xfrm>
            <a:off x="8572500" y="58674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5A5A5A"/>
                </a:solidFill>
                <a:latin typeface="Segoe UI" panose="020B0502040204020203" pitchFamily="34" charset="0"/>
              </a:rPr>
              <a:t>3 students excluded outside Rs 100 - Rs 1,000,000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7D5BD2-03AF-44C3-8F9A-36A7BA6443FE}"/>
              </a:ext>
            </a:extLst>
          </p:cNvPr>
          <p:cNvSpPr txBox="1"/>
          <p:nvPr/>
        </p:nvSpPr>
        <p:spPr>
          <a:xfrm>
            <a:off x="317500" y="6350000"/>
            <a:ext cx="1143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A5A5A"/>
                </a:solidFill>
                <a:latin typeface="Segoe UI" panose="020B0502040204020203" pitchFamily="34" charset="0"/>
              </a:rPr>
              <a:t>Source: PSLM 2019-20; KP rural students; weighted by hhweight.</a:t>
            </a:r>
          </a:p>
        </p:txBody>
      </p:sp>
    </p:spTree>
    <p:extLst>
      <p:ext uri="{BB962C8B-B14F-4D97-AF65-F5344CB8AC3E}">
        <p14:creationId xmlns:p14="http://schemas.microsoft.com/office/powerpoint/2010/main" val="2406155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0E1CD1-B4AF-4CE5-B846-18F3ACDEAEB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55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A1CD3-F8A8-458F-A4BC-F063D4A69550}"/>
              </a:ext>
            </a:extLst>
          </p:cNvPr>
          <p:cNvSpPr txBox="1"/>
          <p:nvPr/>
        </p:nvSpPr>
        <p:spPr>
          <a:xfrm>
            <a:off x="444500" y="317500"/>
            <a:ext cx="11303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4354D"/>
                </a:solidFill>
                <a:latin typeface="Segoe UI" panose="020B0502040204020203" pitchFamily="34" charset="0"/>
              </a:rPr>
              <a:t>Makeover: from 13,200 points to weighted conditional means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0FAB0-1194-4E91-9617-438FF3585A96}"/>
              </a:ext>
            </a:extLst>
          </p:cNvPr>
          <p:cNvSpPr txBox="1"/>
          <p:nvPr/>
        </p:nvSpPr>
        <p:spPr>
          <a:xfrm>
            <a:off x="444500" y="1041400"/>
            <a:ext cx="533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D55E00"/>
                </a:solidFill>
                <a:latin typeface="Segoe UI" panose="020B0502040204020203" pitchFamily="34" charset="0"/>
              </a:rPr>
              <a:t>DEFAULT (Q4)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1D6215-34F4-4827-B15D-194080A33B09}"/>
              </a:ext>
            </a:extLst>
          </p:cNvPr>
          <p:cNvSpPr txBox="1"/>
          <p:nvPr/>
        </p:nvSpPr>
        <p:spPr>
          <a:xfrm>
            <a:off x="444500" y="1346200"/>
            <a:ext cx="533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5A5A5A"/>
                </a:solidFill>
                <a:latin typeface="Segoe UI" panose="020B0502040204020203" pitchFamily="34" charset="0"/>
              </a:rPr>
              <a:t>One point per person; no visible age pattern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63417E6-CE3D-419B-ABCA-501172D612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00" y="1714500"/>
            <a:ext cx="5334000" cy="381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9A197-508F-4FC0-9485-A005EAEB6EC9}"/>
              </a:ext>
            </a:extLst>
          </p:cNvPr>
          <p:cNvSpPr txBox="1"/>
          <p:nvPr/>
        </p:nvSpPr>
        <p:spPr>
          <a:xfrm>
            <a:off x="6413500" y="1041400"/>
            <a:ext cx="533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72B2"/>
                </a:solidFill>
                <a:latin typeface="Segoe UI" panose="020B0502040204020203" pitchFamily="34" charset="0"/>
              </a:rPr>
              <a:t>REDESIGN (Q3)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A67133-0331-4F4A-B461-A7A879344219}"/>
              </a:ext>
            </a:extLst>
          </p:cNvPr>
          <p:cNvSpPr txBox="1"/>
          <p:nvPr/>
        </p:nvSpPr>
        <p:spPr>
          <a:xfrm>
            <a:off x="6413500" y="1346200"/>
            <a:ext cx="533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5A5A5A"/>
                </a:solidFill>
                <a:latin typeface="Segoe UI" panose="020B0502040204020203" pitchFamily="34" charset="0"/>
              </a:rPr>
              <a:t>Weighted literacy rate by age band and sex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9D5698C-37D8-4DB5-A5AE-F8614352C26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1714500"/>
            <a:ext cx="5334000" cy="3467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A16782-63DF-4CCE-BD85-18969C786911}"/>
              </a:ext>
            </a:extLst>
          </p:cNvPr>
          <p:cNvSpPr txBox="1"/>
          <p:nvPr/>
        </p:nvSpPr>
        <p:spPr>
          <a:xfrm>
            <a:off x="444500" y="5905500"/>
            <a:ext cx="1130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14354D"/>
                </a:solidFill>
                <a:latin typeface="Segoe UI" panose="020B0502040204020203" pitchFamily="34" charset="0"/>
              </a:rPr>
              <a:t>Overplotting removed  |  sex mapped to colour  |  direct labels  |  y-axis fixed at 0-100%  |  thin cells hollow</a:t>
            </a:r>
          </a:p>
        </p:txBody>
      </p:sp>
    </p:spTree>
    <p:extLst>
      <p:ext uri="{BB962C8B-B14F-4D97-AF65-F5344CB8AC3E}">
        <p14:creationId xmlns:p14="http://schemas.microsoft.com/office/powerpoint/2010/main" val="3157411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FFCFDC-E8C7-4B72-8654-ACE932D1831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55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D9B74-C662-47E0-BD02-9757A405A7F6}"/>
              </a:ext>
            </a:extLst>
          </p:cNvPr>
          <p:cNvSpPr txBox="1"/>
          <p:nvPr/>
        </p:nvSpPr>
        <p:spPr>
          <a:xfrm>
            <a:off x="444500" y="317500"/>
            <a:ext cx="11303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4354D"/>
                </a:solidFill>
                <a:latin typeface="Segoe UI" panose="020B0502040204020203" pitchFamily="34" charset="0"/>
              </a:rPr>
              <a:t>Key finding: a 46.6-point literacy gap at ages 45-49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64F2F8-5780-488D-9F0F-527B61BCB3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00" y="1168400"/>
            <a:ext cx="7620000" cy="4953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F0C39E-4418-40A1-B571-80C6341C9CF2}"/>
              </a:ext>
            </a:extLst>
          </p:cNvPr>
          <p:cNvSpPr/>
          <p:nvPr/>
        </p:nvSpPr>
        <p:spPr>
          <a:xfrm>
            <a:off x="8255000" y="1333500"/>
            <a:ext cx="38100" cy="4191000"/>
          </a:xfrm>
          <a:prstGeom prst="rect">
            <a:avLst/>
          </a:prstGeom>
          <a:solidFill>
            <a:srgbClr val="0072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3CDA4-587F-4E0E-BBCF-1E3999796CDF}"/>
              </a:ext>
            </a:extLst>
          </p:cNvPr>
          <p:cNvSpPr txBox="1"/>
          <p:nvPr/>
        </p:nvSpPr>
        <p:spPr>
          <a:xfrm>
            <a:off x="8572500" y="1422400"/>
            <a:ext cx="127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D55E00"/>
                </a:solidFill>
                <a:latin typeface="Segoe UI" panose="020B0502040204020203" pitchFamily="34" charset="0"/>
              </a:rPr>
              <a:t>WOMEN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3054F-84E4-4883-B9DA-EC53A418A3BD}"/>
              </a:ext>
            </a:extLst>
          </p:cNvPr>
          <p:cNvSpPr txBox="1"/>
          <p:nvPr/>
        </p:nvSpPr>
        <p:spPr>
          <a:xfrm>
            <a:off x="8572500" y="1778000"/>
            <a:ext cx="317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4354D"/>
                </a:solidFill>
                <a:latin typeface="Segoe UI" panose="020B0502040204020203" pitchFamily="34" charset="0"/>
              </a:rPr>
              <a:t>15-19: 52.6%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F123B-20EC-487D-9AE9-7790EC6A41DA}"/>
              </a:ext>
            </a:extLst>
          </p:cNvPr>
          <p:cNvSpPr txBox="1"/>
          <p:nvPr/>
        </p:nvSpPr>
        <p:spPr>
          <a:xfrm>
            <a:off x="8572500" y="2222500"/>
            <a:ext cx="317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4354D"/>
                </a:solidFill>
                <a:latin typeface="Segoe UI" panose="020B0502040204020203" pitchFamily="34" charset="0"/>
              </a:rPr>
              <a:t>55-59: 2.9%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747388-8648-4D85-AC17-8C4451802D94}"/>
              </a:ext>
            </a:extLst>
          </p:cNvPr>
          <p:cNvSpPr txBox="1"/>
          <p:nvPr/>
        </p:nvSpPr>
        <p:spPr>
          <a:xfrm>
            <a:off x="8572500" y="2857500"/>
            <a:ext cx="127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072B2"/>
                </a:solidFill>
                <a:latin typeface="Segoe UI" panose="020B0502040204020203" pitchFamily="34" charset="0"/>
              </a:rPr>
              <a:t>MEN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D69D6B-8C73-405C-993F-F824F0B09119}"/>
              </a:ext>
            </a:extLst>
          </p:cNvPr>
          <p:cNvSpPr txBox="1"/>
          <p:nvPr/>
        </p:nvSpPr>
        <p:spPr>
          <a:xfrm>
            <a:off x="8572500" y="3213100"/>
            <a:ext cx="317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4354D"/>
                </a:solidFill>
                <a:latin typeface="Segoe UI" panose="020B0502040204020203" pitchFamily="34" charset="0"/>
              </a:rPr>
              <a:t>15-19: 85.1%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43F49-728A-44F6-9C3D-A035098785FD}"/>
              </a:ext>
            </a:extLst>
          </p:cNvPr>
          <p:cNvSpPr txBox="1"/>
          <p:nvPr/>
        </p:nvSpPr>
        <p:spPr>
          <a:xfrm>
            <a:off x="8572500" y="3657600"/>
            <a:ext cx="317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4354D"/>
                </a:solidFill>
                <a:latin typeface="Segoe UI" panose="020B0502040204020203" pitchFamily="34" charset="0"/>
              </a:rPr>
              <a:t>55-59: 43.0%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25476D-BD0B-4563-85F8-604024DEC8BA}"/>
              </a:ext>
            </a:extLst>
          </p:cNvPr>
          <p:cNvSpPr txBox="1"/>
          <p:nvPr/>
        </p:nvSpPr>
        <p:spPr>
          <a:xfrm>
            <a:off x="8572500" y="4318000"/>
            <a:ext cx="317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5A5A5A"/>
                </a:solidFill>
                <a:latin typeface="Segoe UI" panose="020B0502040204020203" pitchFamily="34" charset="0"/>
              </a:rPr>
              <a:t>Largest gap at 45-49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71428B-8A93-42AE-8555-47F178F840B3}"/>
              </a:ext>
            </a:extLst>
          </p:cNvPr>
          <p:cNvSpPr txBox="1"/>
          <p:nvPr/>
        </p:nvSpPr>
        <p:spPr>
          <a:xfrm>
            <a:off x="8572500" y="4660900"/>
            <a:ext cx="317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D55E00"/>
                </a:solidFill>
                <a:latin typeface="Segoe UI" panose="020B0502040204020203" pitchFamily="34" charset="0"/>
              </a:rPr>
              <a:t>10.5% vs 57.0%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34DFDD-5E9C-43A1-AA76-19045C2DF730}"/>
              </a:ext>
            </a:extLst>
          </p:cNvPr>
          <p:cNvSpPr txBox="1"/>
          <p:nvPr/>
        </p:nvSpPr>
        <p:spPr>
          <a:xfrm>
            <a:off x="8572500" y="5334000"/>
            <a:ext cx="3238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5A5A5A"/>
                </a:solidFill>
                <a:latin typeface="Segoe UI" panose="020B0502040204020203" pitchFamily="34" charset="0"/>
              </a:rPr>
              <a:t>Caveat: a cross-section cannot show when literacy was acquired, or whether schooling caused it.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181472-70C4-41C0-AE3A-D28A53700B1E}"/>
              </a:ext>
            </a:extLst>
          </p:cNvPr>
          <p:cNvSpPr txBox="1"/>
          <p:nvPr/>
        </p:nvSpPr>
        <p:spPr>
          <a:xfrm>
            <a:off x="317500" y="6350000"/>
            <a:ext cx="1143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A5A5A"/>
                </a:solidFill>
                <a:latin typeface="Segoe UI" panose="020B0502040204020203" pitchFamily="34" charset="0"/>
              </a:rPr>
              <a:t>Source: PSLM 2019-20; persons aged 10-64; weighted by hhweight.</a:t>
            </a:r>
          </a:p>
        </p:txBody>
      </p:sp>
    </p:spTree>
    <p:extLst>
      <p:ext uri="{BB962C8B-B14F-4D97-AF65-F5344CB8AC3E}">
        <p14:creationId xmlns:p14="http://schemas.microsoft.com/office/powerpoint/2010/main" val="1076897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Custom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</cp:revision>
  <dcterms:created xsi:type="dcterms:W3CDTF">2026-10-24T12:10:27Z</dcterms:created>
  <dcterms:modified xsi:type="dcterms:W3CDTF">2026-10-24T12:10:29Z</dcterms:modified>
</cp:coreProperties>
</file>